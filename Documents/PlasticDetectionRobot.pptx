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FBF"/>
    <a:srgbClr val="1A2B3C"/>
    <a:srgbClr val="9BB8C8"/>
    <a:srgbClr val="C8DDE8"/>
    <a:srgbClr val="6E8D9C"/>
    <a:srgbClr val="71899A"/>
    <a:srgbClr val="5A7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50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5239512" y="274320"/>
            <a:ext cx="3840480" cy="3840480"/>
          </a:xfrm>
          <a:prstGeom prst="ellipse">
            <a:avLst/>
          </a:prstGeom>
          <a:solidFill>
            <a:srgbClr val="0D2E4E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73152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Detection Robot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23774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Plastic Waste in Water Bodies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3383280"/>
            <a:ext cx="45720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Autonomous Detection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4663440"/>
            <a:ext cx="182880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Sirius Software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326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in Water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" y="135331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Rivers, lakes, and oceans are filling up with plastic waste. Most of it sinks below the surface where it cannot be easily seen.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22960"/>
            <a:ext cx="64008" cy="182880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9326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 Water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9472" y="135331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Muddy, chemically polluted, or deep water blocks camera – based detection. Traditional detection methods fail where they are needed most.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28346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34640"/>
            <a:ext cx="64008" cy="182880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4436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Accurate Location Data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38912" y="33649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plastic is spotted, there is no reliable way to record exactly where it is — making cleanup very difficult.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34640"/>
            <a:ext cx="64008" cy="182880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9443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Fails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19472" y="33649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people to check every water body is slow, expensive, and dangerous. An automated system is needed.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E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Plastic Detection Robot?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underwater robot that patrols water bodies, detects plastic waste using cameras and sonar, and sends the exact GPS location to a cleanup team.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collect the plastic — </a:t>
            </a:r>
            <a:r>
              <a:rPr lang="en-US" sz="1400" dirty="0">
                <a:solidFill>
                  <a:srgbClr val="3ECFBF"/>
                </a:solidFill>
              </a:rPr>
              <a:t>it only detects and reports it</a:t>
            </a:r>
            <a:r>
              <a:rPr lang="en-US" sz="13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8346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floating plastic on the surface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28346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926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Detection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0352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zero visibility underwater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35204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611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Sensing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68680" y="3813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deep the plastic is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35204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611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303520" y="3813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exact location of plastic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42062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297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Fusion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68680" y="4498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sensors for accuracy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09160" y="4206240"/>
            <a:ext cx="4206240" cy="576072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297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Alerts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303520" y="4498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alerts to the cleanup team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303520" y="777240"/>
            <a:ext cx="3657600" cy="1828800"/>
          </a:xfrm>
          <a:prstGeom prst="rect">
            <a:avLst/>
          </a:prstGeom>
          <a:solidFill>
            <a:srgbClr val="0D2E4E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39496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Purpose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394960" y="1188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— not collect — plastic waste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surface and underwater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murky, dark, chemically polluted water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GPS + depth data to cleanup teams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patrol system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2ABFB8"/>
          </a:solidFill>
          <a:ln w="12700">
            <a:solidFill>
              <a:srgbClr val="2ABF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A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 ·  Thruster Analysis  ·  Component Details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3703320" cy="42976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731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 — Top-Down View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133856"/>
            <a:ext cx="2423160" cy="2606040"/>
          </a:xfrm>
          <a:prstGeom prst="roundRect">
            <a:avLst>
              <a:gd name="adj" fmla="val 4528"/>
            </a:avLst>
          </a:prstGeom>
          <a:solidFill>
            <a:srgbClr val="0D2E4E"/>
          </a:solidFill>
          <a:ln w="19050">
            <a:solidFill>
              <a:srgbClr val="2AB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45336"/>
            <a:ext cx="164592" cy="1783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932688"/>
            <a:ext cx="658368" cy="384048"/>
          </a:xfrm>
          <a:prstGeom prst="ellipse">
            <a:avLst/>
          </a:prstGeom>
          <a:solidFill>
            <a:srgbClr val="2ABFB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3739896"/>
            <a:ext cx="457200" cy="20116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225296"/>
            <a:ext cx="292608" cy="292608"/>
          </a:xfrm>
          <a:prstGeom prst="ellipse">
            <a:avLst/>
          </a:prstGeom>
          <a:solidFill>
            <a:srgbClr val="C87D0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Battery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386584" y="20939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Ping360</a:t>
            </a:r>
            <a:endParaRPr lang="en-US" sz="7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6616" y="1307592"/>
            <a:ext cx="420624" cy="640080"/>
          </a:xfrm>
          <a:prstGeom prst="ellipse">
            <a:avLst/>
          </a:prstGeom>
          <a:solidFill>
            <a:srgbClr val="00C4B4">
              <a:alpha val="30000"/>
            </a:srgbClr>
          </a:solidFill>
          <a:ln w="3810">
            <a:solidFill>
              <a:srgbClr val="2AB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335024"/>
            <a:ext cx="365760" cy="585216"/>
          </a:xfrm>
          <a:prstGeom prst="ellipse">
            <a:avLst/>
          </a:prstGeom>
          <a:solidFill>
            <a:srgbClr val="1B7F7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472184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27632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783080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" y="3127248"/>
            <a:ext cx="420624" cy="640080"/>
          </a:xfrm>
          <a:prstGeom prst="ellipse">
            <a:avLst/>
          </a:prstGeom>
          <a:solidFill>
            <a:srgbClr val="00C4B4">
              <a:alpha val="30000"/>
            </a:srgbClr>
          </a:solidFill>
          <a:ln w="3810">
            <a:solidFill>
              <a:srgbClr val="2ABF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154680"/>
            <a:ext cx="365760" cy="585216"/>
          </a:xfrm>
          <a:prstGeom prst="ellipse">
            <a:avLst/>
          </a:prstGeom>
          <a:solidFill>
            <a:srgbClr val="1B7F7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47288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02736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6976" y="1307592"/>
            <a:ext cx="420624" cy="640080"/>
          </a:xfrm>
          <a:prstGeom prst="ellipse">
            <a:avLst/>
          </a:prstGeom>
          <a:solidFill>
            <a:srgbClr val="00C4B4">
              <a:alpha val="30000"/>
            </a:srgbClr>
          </a:solidFill>
          <a:ln w="3810">
            <a:solidFill>
              <a:srgbClr val="2ABF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4408" y="1335024"/>
            <a:ext cx="365760" cy="585216"/>
          </a:xfrm>
          <a:prstGeom prst="ellipse">
            <a:avLst/>
          </a:prstGeom>
          <a:solidFill>
            <a:srgbClr val="1B7F7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472184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627632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1783080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3127248"/>
            <a:ext cx="420624" cy="640080"/>
          </a:xfrm>
          <a:prstGeom prst="ellipse">
            <a:avLst/>
          </a:prstGeom>
          <a:solidFill>
            <a:srgbClr val="00C4B4">
              <a:alpha val="30000"/>
            </a:srgbClr>
          </a:solidFill>
          <a:ln w="3810">
            <a:solidFill>
              <a:srgbClr val="2ABF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3154680"/>
            <a:ext cx="365760" cy="585216"/>
          </a:xfrm>
          <a:prstGeom prst="ellipse">
            <a:avLst/>
          </a:prstGeom>
          <a:solidFill>
            <a:srgbClr val="1B7F7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291840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447288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602736"/>
            <a:ext cx="219456" cy="0"/>
          </a:xfrm>
          <a:prstGeom prst="line">
            <a:avLst/>
          </a:prstGeom>
          <a:noFill/>
          <a:ln w="6350">
            <a:solidFill>
              <a:srgbClr val="2ABF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" y="1536192"/>
            <a:ext cx="155448" cy="155448"/>
          </a:xfrm>
          <a:prstGeom prst="ellipse">
            <a:avLst/>
          </a:prstGeom>
          <a:solidFill>
            <a:srgbClr val="0A162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15361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493776" y="3355848"/>
            <a:ext cx="155448" cy="155448"/>
          </a:xfrm>
          <a:prstGeom prst="ellipse">
            <a:avLst/>
          </a:prstGeom>
          <a:solidFill>
            <a:srgbClr val="0A162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33558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3374136" y="1536192"/>
            <a:ext cx="155448" cy="155448"/>
          </a:xfrm>
          <a:prstGeom prst="ellipse">
            <a:avLst/>
          </a:prstGeom>
          <a:solidFill>
            <a:srgbClr val="0A162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15361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3374136" y="3355848"/>
            <a:ext cx="155448" cy="155448"/>
          </a:xfrm>
          <a:prstGeom prst="ellipse">
            <a:avLst/>
          </a:prstGeom>
          <a:solidFill>
            <a:srgbClr val="0A162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4136" y="33558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941832" y="914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1B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(IP68)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2267712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78992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1B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Sensor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596896" y="1572767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</a:t>
            </a: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86384" y="3950208"/>
            <a:ext cx="2423160" cy="0"/>
          </a:xfrm>
          <a:prstGeom prst="line">
            <a:avLst/>
          </a:prstGeom>
          <a:noFill/>
          <a:ln w="6350">
            <a:solidFill>
              <a:srgbClr val="1B7F7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786384" y="3886200"/>
            <a:ext cx="0" cy="128016"/>
          </a:xfrm>
          <a:prstGeom prst="line">
            <a:avLst/>
          </a:prstGeom>
          <a:noFill/>
          <a:ln w="6350">
            <a:solidFill>
              <a:srgbClr val="1B7F7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9544" y="3886200"/>
            <a:ext cx="0" cy="128016"/>
          </a:xfrm>
          <a:prstGeom prst="line">
            <a:avLst/>
          </a:prstGeom>
          <a:noFill/>
          <a:ln w="6350">
            <a:solidFill>
              <a:srgbClr val="1B7F7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17904" y="39684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500 mm →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4320" y="207568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 T200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64592" y="4590288"/>
            <a:ext cx="3703320" cy="365760"/>
          </a:xfrm>
          <a:prstGeom prst="rect">
            <a:avLst/>
          </a:prstGeom>
          <a:solidFill>
            <a:srgbClr val="0D2E4E"/>
          </a:solidFill>
          <a:ln w="12700">
            <a:solidFill>
              <a:srgbClr val="0D2E4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46085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01752" y="47914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197864" y="46085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97864" y="47914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093976" y="46085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93976" y="47914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990088" y="46085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kg - 15 kg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990088" y="47914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Weight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005072" y="658368"/>
            <a:ext cx="2395728" cy="4297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0" y="7315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 Analysis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114800" y="100584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 Thrusters?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096512" y="1261872"/>
            <a:ext cx="2212848" cy="1170432"/>
          </a:xfrm>
          <a:prstGeom prst="roundRect">
            <a:avLst>
              <a:gd name="adj" fmla="val 4688"/>
            </a:avLst>
          </a:prstGeom>
          <a:solidFill>
            <a:srgbClr val="FDECEC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23944" y="1280160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23944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1289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Thrusters Only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4169664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forward / backward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169664" y="1719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depth control at all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169664" y="1938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stability in currents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169664" y="2157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fails → robot stranded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096512" y="2505456"/>
            <a:ext cx="2212848" cy="1170432"/>
          </a:xfrm>
          <a:prstGeom prst="roundRect">
            <a:avLst>
              <a:gd name="adj" fmla="val 4688"/>
            </a:avLst>
          </a:prstGeom>
          <a:solidFill>
            <a:srgbClr val="E6F5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52374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23944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2532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Thrusters (Our Design)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4169664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for move &amp; turn; 2 for depth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169664" y="2971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3D control underwater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169664" y="31912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against river currents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169664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even if one fails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096512" y="3712464"/>
            <a:ext cx="2212848" cy="18288"/>
          </a:xfrm>
          <a:prstGeom prst="rect">
            <a:avLst/>
          </a:prstGeom>
          <a:solidFill>
            <a:srgbClr val="C5D8E8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14800" y="374904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T200 Thruster Power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4114800" y="39776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B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4×T200 Total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065776" y="3995928"/>
            <a:ext cx="914400" cy="91440"/>
          </a:xfrm>
          <a:prstGeom prst="rect">
            <a:avLst/>
          </a:prstGeom>
          <a:solidFill>
            <a:srgbClr val="E8EF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65776" y="3995928"/>
            <a:ext cx="914400" cy="914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80176" y="39776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 kgf</a:t>
            </a:r>
            <a:endParaRPr lang="en-US" sz="580" dirty="0"/>
          </a:p>
        </p:txBody>
      </p:sp>
      <p:sp>
        <p:nvSpPr>
          <p:cNvPr id="86" name="Text 84"/>
          <p:cNvSpPr/>
          <p:nvPr/>
        </p:nvSpPr>
        <p:spPr>
          <a:xfrm>
            <a:off x="4114800" y="42336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B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 water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5065776" y="4251960"/>
            <a:ext cx="914400" cy="91440"/>
          </a:xfrm>
          <a:prstGeom prst="rect">
            <a:avLst/>
          </a:prstGeom>
          <a:solidFill>
            <a:srgbClr val="E8EF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65776" y="4251960"/>
            <a:ext cx="137160" cy="91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80176" y="42336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kgf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4114800" y="44897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B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current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065776" y="4507992"/>
            <a:ext cx="914400" cy="91440"/>
          </a:xfrm>
          <a:prstGeom prst="rect">
            <a:avLst/>
          </a:prstGeom>
          <a:solidFill>
            <a:srgbClr val="E8EF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65776" y="4507992"/>
            <a:ext cx="228600" cy="91440"/>
          </a:xfrm>
          <a:prstGeom prst="rect">
            <a:avLst/>
          </a:prstGeom>
          <a:solidFill>
            <a:srgbClr val="C87D0E"/>
          </a:solidFill>
          <a:ln w="12700">
            <a:solidFill>
              <a:srgbClr val="C87D0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80176" y="44897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C87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kgf</a:t>
            </a:r>
            <a:endParaRPr lang="en-US" sz="580" dirty="0"/>
          </a:p>
        </p:txBody>
      </p:sp>
      <p:sp>
        <p:nvSpPr>
          <p:cNvPr id="94" name="Shape 92"/>
          <p:cNvSpPr/>
          <p:nvPr/>
        </p:nvSpPr>
        <p:spPr>
          <a:xfrm>
            <a:off x="4096512" y="4676101"/>
            <a:ext cx="2212848" cy="256032"/>
          </a:xfrm>
          <a:prstGeom prst="roundRect">
            <a:avLst>
              <a:gd name="adj" fmla="val 17857"/>
            </a:avLst>
          </a:prstGeom>
          <a:solidFill>
            <a:srgbClr val="E6F5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42232" y="468524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5× more thrust than needed  —  safe margin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6565392" y="658368"/>
            <a:ext cx="2414016" cy="42976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75120" y="731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Specifications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565392" y="1005840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65392" y="1005840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20256" y="10424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680" dirty="0"/>
          </a:p>
        </p:txBody>
      </p:sp>
      <p:sp>
        <p:nvSpPr>
          <p:cNvPr id="101" name="Text 99"/>
          <p:cNvSpPr/>
          <p:nvPr/>
        </p:nvSpPr>
        <p:spPr>
          <a:xfrm>
            <a:off x="7443216" y="10424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IP68 Housing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6565392" y="1281989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65392" y="1281989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20256" y="1318565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</a:t>
            </a:r>
            <a:endParaRPr lang="en-US" sz="680" dirty="0"/>
          </a:p>
        </p:txBody>
      </p:sp>
      <p:sp>
        <p:nvSpPr>
          <p:cNvPr id="105" name="Text 103"/>
          <p:cNvSpPr/>
          <p:nvPr/>
        </p:nvSpPr>
        <p:spPr>
          <a:xfrm>
            <a:off x="7443216" y="131856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4×T200 | 5.1 kgf each</a:t>
            </a:r>
            <a:endParaRPr lang="en-US" sz="680" dirty="0"/>
          </a:p>
        </p:txBody>
      </p:sp>
      <p:sp>
        <p:nvSpPr>
          <p:cNvPr id="106" name="Shape 104"/>
          <p:cNvSpPr/>
          <p:nvPr/>
        </p:nvSpPr>
        <p:spPr>
          <a:xfrm>
            <a:off x="6565392" y="1558138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565392" y="1558138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20256" y="159471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 Ø</a:t>
            </a:r>
            <a:endParaRPr lang="en-US" sz="680" dirty="0"/>
          </a:p>
        </p:txBody>
      </p:sp>
      <p:sp>
        <p:nvSpPr>
          <p:cNvPr id="109" name="Text 107"/>
          <p:cNvSpPr/>
          <p:nvPr/>
        </p:nvSpPr>
        <p:spPr>
          <a:xfrm>
            <a:off x="7443216" y="159471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mm L × 100 mm Ø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6565392" y="1834286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65392" y="1834286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20256" y="187086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680" dirty="0"/>
          </a:p>
        </p:txBody>
      </p:sp>
      <p:sp>
        <p:nvSpPr>
          <p:cNvPr id="113" name="Text 111"/>
          <p:cNvSpPr/>
          <p:nvPr/>
        </p:nvSpPr>
        <p:spPr>
          <a:xfrm>
            <a:off x="7443216" y="187086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operational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6565392" y="2110435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65392" y="2110435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620256" y="2147011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7443216" y="214701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20Ah Li-ion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6565392" y="2386584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65392" y="2386584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620256" y="24231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680" dirty="0"/>
          </a:p>
        </p:txBody>
      </p:sp>
      <p:sp>
        <p:nvSpPr>
          <p:cNvPr id="121" name="Text 119"/>
          <p:cNvSpPr/>
          <p:nvPr/>
        </p:nvSpPr>
        <p:spPr>
          <a:xfrm>
            <a:off x="7443216" y="2423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hours / mission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6565392" y="2662733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565392" y="2662733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20256" y="269930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Rating</a:t>
            </a:r>
            <a:endParaRPr lang="en-US" sz="680" dirty="0"/>
          </a:p>
        </p:txBody>
      </p:sp>
      <p:sp>
        <p:nvSpPr>
          <p:cNvPr id="125" name="Text 123"/>
          <p:cNvSpPr/>
          <p:nvPr/>
        </p:nvSpPr>
        <p:spPr>
          <a:xfrm>
            <a:off x="7443216" y="269930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IP68 Fully Waterproof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6565392" y="2938882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565392" y="2938882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620256" y="297545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680" dirty="0"/>
          </a:p>
        </p:txBody>
      </p:sp>
      <p:sp>
        <p:nvSpPr>
          <p:cNvPr id="129" name="Text 127"/>
          <p:cNvSpPr/>
          <p:nvPr/>
        </p:nvSpPr>
        <p:spPr>
          <a:xfrm>
            <a:off x="7443216" y="297545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HQ | 12MP | 53g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6565392" y="3215030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565392" y="3215030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620256" y="325160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</a:t>
            </a:r>
            <a:endParaRPr lang="en-US" sz="680" dirty="0"/>
          </a:p>
        </p:txBody>
      </p:sp>
      <p:sp>
        <p:nvSpPr>
          <p:cNvPr id="133" name="Text 131"/>
          <p:cNvSpPr/>
          <p:nvPr/>
        </p:nvSpPr>
        <p:spPr>
          <a:xfrm>
            <a:off x="7443216" y="325160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50m range</a:t>
            </a:r>
            <a:endParaRPr lang="en-US" sz="680" dirty="0"/>
          </a:p>
        </p:txBody>
      </p:sp>
      <p:sp>
        <p:nvSpPr>
          <p:cNvPr id="134" name="Shape 132"/>
          <p:cNvSpPr/>
          <p:nvPr/>
        </p:nvSpPr>
        <p:spPr>
          <a:xfrm>
            <a:off x="6565392" y="3491179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65392" y="3491179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20256" y="3527755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</a:t>
            </a:r>
            <a:endParaRPr lang="en-US" sz="680" dirty="0"/>
          </a:p>
        </p:txBody>
      </p:sp>
      <p:sp>
        <p:nvSpPr>
          <p:cNvPr id="137" name="Text 135"/>
          <p:cNvSpPr/>
          <p:nvPr/>
        </p:nvSpPr>
        <p:spPr>
          <a:xfrm>
            <a:off x="7443216" y="352775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Requirement </a:t>
            </a:r>
            <a:endParaRPr lang="en-US" sz="680" dirty="0"/>
          </a:p>
        </p:txBody>
      </p:sp>
      <p:sp>
        <p:nvSpPr>
          <p:cNvPr id="138" name="Shape 136"/>
          <p:cNvSpPr/>
          <p:nvPr/>
        </p:nvSpPr>
        <p:spPr>
          <a:xfrm>
            <a:off x="6565392" y="3767328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65392" y="3767328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620256" y="38039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Sensor</a:t>
            </a:r>
            <a:endParaRPr lang="en-US" sz="680" dirty="0"/>
          </a:p>
        </p:txBody>
      </p:sp>
      <p:sp>
        <p:nvSpPr>
          <p:cNvPr id="141" name="Text 139"/>
          <p:cNvSpPr/>
          <p:nvPr/>
        </p:nvSpPr>
        <p:spPr>
          <a:xfrm>
            <a:off x="7443216" y="3803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Bar30 | 300m rated</a:t>
            </a:r>
            <a:endParaRPr lang="en-US" sz="680" dirty="0"/>
          </a:p>
        </p:txBody>
      </p:sp>
      <p:sp>
        <p:nvSpPr>
          <p:cNvPr id="142" name="Shape 140"/>
          <p:cNvSpPr/>
          <p:nvPr/>
        </p:nvSpPr>
        <p:spPr>
          <a:xfrm>
            <a:off x="6565392" y="4043477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Shape 141"/>
          <p:cNvSpPr/>
          <p:nvPr/>
        </p:nvSpPr>
        <p:spPr>
          <a:xfrm>
            <a:off x="6565392" y="4043477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620256" y="4080053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</a:t>
            </a:r>
            <a:r>
              <a:rPr lang="en-IN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endParaRPr lang="en-US" sz="680" dirty="0"/>
          </a:p>
        </p:txBody>
      </p:sp>
      <p:sp>
        <p:nvSpPr>
          <p:cNvPr id="145" name="Text 143"/>
          <p:cNvSpPr/>
          <p:nvPr/>
        </p:nvSpPr>
        <p:spPr>
          <a:xfrm>
            <a:off x="7443216" y="408005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1m – 2m</a:t>
            </a:r>
            <a:endParaRPr lang="en-US" sz="680" dirty="0"/>
          </a:p>
        </p:txBody>
      </p:sp>
      <p:sp>
        <p:nvSpPr>
          <p:cNvPr id="146" name="Shape 144"/>
          <p:cNvSpPr/>
          <p:nvPr/>
        </p:nvSpPr>
        <p:spPr>
          <a:xfrm>
            <a:off x="6565392" y="4319626"/>
            <a:ext cx="2414016" cy="276149"/>
          </a:xfrm>
          <a:prstGeom prst="rect">
            <a:avLst/>
          </a:prstGeom>
          <a:solidFill>
            <a:srgbClr val="F0F5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565392" y="4319626"/>
            <a:ext cx="822960" cy="276149"/>
          </a:xfrm>
          <a:prstGeom prst="rect">
            <a:avLst/>
          </a:prstGeom>
          <a:solidFill>
            <a:srgbClr val="D6E8F5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620256" y="435620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Weight</a:t>
            </a:r>
            <a:endParaRPr lang="en-US" sz="680" dirty="0"/>
          </a:p>
        </p:txBody>
      </p:sp>
      <p:sp>
        <p:nvSpPr>
          <p:cNvPr id="149" name="Text 147"/>
          <p:cNvSpPr/>
          <p:nvPr/>
        </p:nvSpPr>
        <p:spPr>
          <a:xfrm>
            <a:off x="7443216" y="435620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kg - 15 kg</a:t>
            </a:r>
            <a:endParaRPr lang="en-US" sz="680" dirty="0"/>
          </a:p>
        </p:txBody>
      </p:sp>
      <p:sp>
        <p:nvSpPr>
          <p:cNvPr id="150" name="Shape 148"/>
          <p:cNvSpPr/>
          <p:nvPr/>
        </p:nvSpPr>
        <p:spPr>
          <a:xfrm>
            <a:off x="6565392" y="4595774"/>
            <a:ext cx="2414016" cy="276149"/>
          </a:xfrm>
          <a:prstGeom prst="rect">
            <a:avLst/>
          </a:prstGeom>
          <a:solidFill>
            <a:srgbClr val="FFFFFF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565392" y="4595774"/>
            <a:ext cx="822960" cy="276149"/>
          </a:xfrm>
          <a:prstGeom prst="rect">
            <a:avLst/>
          </a:prstGeom>
          <a:solidFill>
            <a:srgbClr val="E8F2FA"/>
          </a:solidFill>
          <a:ln w="3810">
            <a:solidFill>
              <a:srgbClr val="C5D8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20256" y="463235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D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Buoyant Wt.</a:t>
            </a:r>
            <a:endParaRPr lang="en-US" sz="680" dirty="0"/>
          </a:p>
        </p:txBody>
      </p:sp>
      <p:sp>
        <p:nvSpPr>
          <p:cNvPr id="153" name="Text 151"/>
          <p:cNvSpPr/>
          <p:nvPr/>
        </p:nvSpPr>
        <p:spPr>
          <a:xfrm>
            <a:off x="7443216" y="463235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~1–4 kg (in water)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E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Robot Operates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13816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13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" y="1316736"/>
            <a:ext cx="0" cy="32004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1381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795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Patrol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1069848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is placed in the water and begins patrolling the area. It moves using 4 thrusters and can go up to 100 m deep.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66420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" y="2167128"/>
            <a:ext cx="0" cy="32004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6642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Sonar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08760" y="1920240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constantly scans ahead using sound waves. It detects any objects in the water — even in complete darkness or muddy water.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25146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2064" y="3017520"/>
            <a:ext cx="0" cy="32004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5146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496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Camera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508760" y="277063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sonar finds something and water is clear enough, the camera activates. The AI checks if the object is plastic.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33649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18"/>
          <p:cNvSpPr/>
          <p:nvPr/>
        </p:nvSpPr>
        <p:spPr>
          <a:xfrm>
            <a:off x="2743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12064" y="3867912"/>
            <a:ext cx="0" cy="32004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6499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3346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Decision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508760" y="3621024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sonar and camera results are combined by an AI model. It gives a final confidence score — </a:t>
            </a:r>
            <a:r>
              <a:rPr lang="en-US" sz="1050" dirty="0">
                <a:solidFill>
                  <a:srgbClr val="9BB8C8"/>
                </a:solidFill>
              </a:rPr>
              <a:t>whether the object is plastic or not</a:t>
            </a: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srgbClr val="9BB8C8"/>
              </a:solidFill>
            </a:endParaRPr>
          </a:p>
        </p:txBody>
      </p:sp>
      <p:sp>
        <p:nvSpPr>
          <p:cNvPr id="28" name="Shape 22"/>
          <p:cNvSpPr/>
          <p:nvPr/>
        </p:nvSpPr>
        <p:spPr>
          <a:xfrm>
            <a:off x="274320" y="421538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3"/>
          <p:cNvSpPr/>
          <p:nvPr/>
        </p:nvSpPr>
        <p:spPr>
          <a:xfrm>
            <a:off x="27432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215384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4197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Alert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508760" y="4471416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plastic is confirmed, the GPS location, depth, and timestamp are recorded. An alert is sent to the cleanup team.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8412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8412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Zero Visibility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" y="137160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uses sound waves instead of light, so it works in dark, muddy, or chemically polluted water where cameras cannot see.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74980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74980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8412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8412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Sensor Fusion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10128" y="137160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sonar results are combined by an AI model. The final decision is more reliable than using any single sensor alone.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74980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74980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8412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02552" y="8412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Measurement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281928" y="137160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pressure sensor measures how deep the detected plastic is. This is included in every alert sent to the cleanup team.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28600" y="289864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89864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9900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" y="29900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GPS Location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38328" y="352044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tagged with GPS coordinates and a timestamp. The cleanup team knows exactly where to go.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289864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89864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9900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30752" y="29900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Detects — Does Not Collect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310128" y="352044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finds plastic and reports it. Physical collection is left to the cleanup team with the right equipment.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289864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898648"/>
            <a:ext cx="283464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99008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02552" y="29900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Operational Time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281928" y="3520440"/>
            <a:ext cx="26334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3–4 hours per mission on battery, or continuously on a tethered power supply for longer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E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Plastic in Difficult Water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1566" y="718859"/>
            <a:ext cx="4023360" cy="411480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Cameras Alone Fail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80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in muddy or chemically polluted water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8" y="176892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595" y="1688827"/>
            <a:ext cx="3074494" cy="414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work in darkness or at night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942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177502"/>
            <a:ext cx="3611880" cy="474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plastic below the surface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8" y="27299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0638" y="2669608"/>
            <a:ext cx="3495118" cy="421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in low-light or murky water conditions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516285" y="3113223"/>
            <a:ext cx="12996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Type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737360" y="307414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rgbClr val="3ECFBF"/>
                </a:solidFill>
              </a:rPr>
              <a:t>Camera Capability</a:t>
            </a:r>
            <a:r>
              <a:rPr lang="en-US" sz="10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2973910" y="3045654"/>
            <a:ext cx="1389888" cy="401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</a:t>
            </a:r>
            <a:r>
              <a:rPr lang="en-IN" sz="1000" b="1" dirty="0">
                <a:solidFill>
                  <a:srgbClr val="3ECFBF"/>
                </a:solidFill>
              </a:rPr>
              <a:t>Capability</a:t>
            </a:r>
            <a:r>
              <a:rPr lang="en-US" sz="10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16284" y="3439902"/>
            <a:ext cx="12996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water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281" y="3467334"/>
            <a:ext cx="201168" cy="201168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713" y="3467334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6284" y="3714222"/>
            <a:ext cx="129915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Muddy water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281" y="3738453"/>
            <a:ext cx="201168" cy="201168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688" y="374904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88852" y="3960231"/>
            <a:ext cx="12996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pollution</a:t>
            </a:r>
            <a:endParaRPr lang="en-US" sz="950" dirty="0">
              <a:solidFill>
                <a:srgbClr val="9BB8C8"/>
              </a:solidFill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281" y="3987663"/>
            <a:ext cx="201168" cy="20116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164" y="3987663"/>
            <a:ext cx="201168" cy="201168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4526280" y="749808"/>
            <a:ext cx="4389120" cy="411480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16"/>
          <p:cNvSpPr/>
          <p:nvPr/>
        </p:nvSpPr>
        <p:spPr>
          <a:xfrm>
            <a:off x="466344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System Solves It</a:t>
            </a:r>
            <a:endParaRPr lang="en-US" sz="14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25880"/>
            <a:ext cx="292608" cy="29260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074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</a:t>
            </a:r>
            <a:r>
              <a:rPr lang="en-I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Detection </a:t>
            </a:r>
            <a:endParaRPr lang="en-US" sz="1100" dirty="0"/>
          </a:p>
        </p:txBody>
      </p:sp>
      <p:sp>
        <p:nvSpPr>
          <p:cNvPr id="33" name="Text 18"/>
          <p:cNvSpPr/>
          <p:nvPr/>
        </p:nvSpPr>
        <p:spPr>
          <a:xfrm>
            <a:off x="5074920" y="157276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>
                <a:solidFill>
                  <a:srgbClr val="9BB8C8"/>
                </a:solidFill>
              </a:rPr>
              <a:t>Sonar operates first </a:t>
            </a: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detects any object using sound waves. No light or visibility needed.</a:t>
            </a:r>
            <a:endParaRPr lang="en-US" sz="105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103120"/>
            <a:ext cx="292608" cy="29260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07492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Confirms</a:t>
            </a:r>
            <a:endParaRPr lang="en-US" sz="1100" dirty="0"/>
          </a:p>
        </p:txBody>
      </p:sp>
      <p:sp>
        <p:nvSpPr>
          <p:cNvPr id="36" name="Text 20"/>
          <p:cNvSpPr/>
          <p:nvPr/>
        </p:nvSpPr>
        <p:spPr>
          <a:xfrm>
            <a:off x="5074920" y="23500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water is clear enough, the camera activates and cross-checks what sonar found.</a:t>
            </a:r>
            <a:endParaRPr lang="en-US" sz="105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880360"/>
            <a:ext cx="292608" cy="29260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07492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5074920" y="312724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fusion engine weighs both results and makes a final call with a confidence score.</a:t>
            </a:r>
            <a:endParaRPr lang="en-US" sz="105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657600"/>
            <a:ext cx="292608" cy="29260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074920" y="3630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IP68 Housing</a:t>
            </a:r>
            <a:endParaRPr lang="en-US" sz="1100" dirty="0"/>
          </a:p>
        </p:txBody>
      </p:sp>
      <p:sp>
        <p:nvSpPr>
          <p:cNvPr id="42" name="Text 24"/>
          <p:cNvSpPr/>
          <p:nvPr/>
        </p:nvSpPr>
        <p:spPr>
          <a:xfrm>
            <a:off x="5074920" y="39044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robot is sealed to IP68 standard. It can operate submerged at full pressure.</a:t>
            </a:r>
            <a:endParaRPr lang="en-US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74B6B-6104-42D6-F524-949C1F3F9B51}"/>
              </a:ext>
            </a:extLst>
          </p:cNvPr>
          <p:cNvSpPr txBox="1"/>
          <p:nvPr/>
        </p:nvSpPr>
        <p:spPr>
          <a:xfrm>
            <a:off x="516284" y="4188831"/>
            <a:ext cx="1299151" cy="288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200"/>
              </a:spcBef>
            </a:pPr>
            <a:r>
              <a:rPr lang="en-IN" sz="950" dirty="0">
                <a:solidFill>
                  <a:srgbClr val="9BB8C8"/>
                </a:solidFill>
              </a:rPr>
              <a:t>Zero Visibility </a:t>
            </a:r>
          </a:p>
        </p:txBody>
      </p:sp>
      <p:pic>
        <p:nvPicPr>
          <p:cNvPr id="44" name="Image 8" descr="preencoded.png">
            <a:extLst>
              <a:ext uri="{FF2B5EF4-FFF2-40B4-BE49-F238E27FC236}">
                <a16:creationId xmlns:a16="http://schemas.microsoft.com/office/drawing/2014/main" id="{B81FBD56-706A-C794-9AD1-CA5C1402D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042" y="4240647"/>
            <a:ext cx="201168" cy="201168"/>
          </a:xfrm>
          <a:prstGeom prst="rect">
            <a:avLst/>
          </a:prstGeom>
        </p:spPr>
      </p:pic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4DA37ECF-9B6C-829A-71DD-1A79B36EC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688" y="4252780"/>
            <a:ext cx="201168" cy="201168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33CB848C-BE3F-7B85-5F70-91931D79FFEF}"/>
              </a:ext>
            </a:extLst>
          </p:cNvPr>
          <p:cNvSpPr/>
          <p:nvPr/>
        </p:nvSpPr>
        <p:spPr>
          <a:xfrm>
            <a:off x="-985442" y="3439902"/>
            <a:ext cx="28008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95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EAA94603-6C31-6ED4-F326-9F6AF5FC2267}"/>
              </a:ext>
            </a:extLst>
          </p:cNvPr>
          <p:cNvSpPr/>
          <p:nvPr/>
        </p:nvSpPr>
        <p:spPr>
          <a:xfrm>
            <a:off x="443836" y="3960231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950" dirty="0">
              <a:solidFill>
                <a:srgbClr val="9BB8C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Costing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0060"/>
              </p:ext>
            </p:extLst>
          </p:nvPr>
        </p:nvGraphicFramePr>
        <p:xfrm>
          <a:off x="274320" y="749808"/>
          <a:ext cx="8229600" cy="37856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Standard Option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 (Standard)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Industrial Option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 (Industrial)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Camera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Raspberry Pi HQ Camera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₹5.5k – 6.5k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Teledyne / Kongsberg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₹2.5L+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Sonar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Blue Robotics Ping360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₹2L – 3L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Tritech Gemini 720is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$20k+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Depth Sensor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Blue Robotics Bar30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₹6..5k – 7.5k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Keller Industrial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₹25–30k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GPS / Positioning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uBlox NEO-M8N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₹1–2k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Sonardyne USBL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₹3.3–3.5L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AI Compute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Jetson Xavier NX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₹50k – 52k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AGX Orin Industrial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₹2.5L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Thrusters (×4)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Blue Robotics T200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₹19k – 24k (Each)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Tecnadyne Industrial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Higher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Power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24V 20Ah Li-ion Battery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₹28k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Tethered Power Supply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Housing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Aluminum IP68 Enclosure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₹45k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Custom Marine Grade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</a:rPr>
                        <a:t>₹1L+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-189914" y="4800600"/>
            <a:ext cx="9383151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000" dirty="0">
              <a:solidFill>
                <a:srgbClr val="5A7A8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C7799-2319-3DF4-0372-9AF583A46827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BB8C8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dirty="0">
                <a:solidFill>
                  <a:srgbClr val="6E8D9C"/>
                </a:solidFill>
              </a:rPr>
              <a:t>Note: Other component options are available, and costs may vary accordingly. Industrial-level implementation costs vary significantly depending on sonar and compute choices.</a:t>
            </a:r>
            <a:endParaRPr lang="en-IN" sz="950" dirty="0">
              <a:solidFill>
                <a:srgbClr val="6E8D9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E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Detection Techniques Considered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sonar, these technologies were also studied. Each has trade-offs. Our chosen approach combines Camera + Sonar + AI for the best balance of cost, accuracy, and practicality.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64008" cy="109728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(Laser-based)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13533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0802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353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16642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Good for floating plastic on surface. Laser reflects differently off plastic vs water.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19933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Works on surface only. Cannot go underwater.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514600"/>
            <a:ext cx="8595360" cy="109728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514600"/>
            <a:ext cx="64008" cy="109728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604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Hyperspectral / Infrared Imaging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772400" y="258775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05C5C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2587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960120" y="289864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Detects plastic-specific light wavelengths invisible to the human eye. Can tell plastic apart from wood and algae.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60120" y="32278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Very expensive and requires heavy data processing. Not practical for edge devices.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749040"/>
            <a:ext cx="64008" cy="109728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822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Signature Analysis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772400" y="3822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5A7A8A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0" y="3822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60120" y="41330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Plastic in flowing water creates distinct sound. Low power requirement. Works in dark or muddy conditions.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960120" y="446227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Less accurate on its own. Difficult to separate plastic sounds from background noise.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ECFBF"/>
                </a:solidFill>
              </a:rPr>
              <a:t>Best Choice: Camera + Sonar + AI Fusion — provides the best balance of cost, performance, and underwater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119575" y="73152"/>
            <a:ext cx="84757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Scenarios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441664"/>
              </p:ext>
            </p:extLst>
          </p:nvPr>
        </p:nvGraphicFramePr>
        <p:xfrm>
          <a:off x="119575" y="749807"/>
          <a:ext cx="8750106" cy="4237191"/>
        </p:xfrm>
        <a:graphic>
          <a:graphicData uri="http://schemas.openxmlformats.org/drawingml/2006/table">
            <a:tbl>
              <a:tblPr/>
              <a:tblGrid>
                <a:gridCol w="111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2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Success Criteria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Camera detects floating plastic bottles</a:t>
                      </a:r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Clear water, daylight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Detection accuracy ≥ 85%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1.1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GPS tags the location of the detected object</a:t>
                      </a:r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Surface level, open water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GPS coordinates within 2 m 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1.2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Alert is sent to the cleaning team dashboard</a:t>
                      </a:r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Connected to internet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Alert received within 5 seconds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Sonar detects objects in murky water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Simulated low-visibility pool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Object detected at 2–10 m range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2.1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AI fusion combines camera + sonar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Mixed visibility conditions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Fusion confidence score ≥ 80%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2.2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Depth sensor reports correct depth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Pool with known depth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Depth accuracy within ±0.5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Full system — sonar + camera + AI + GPS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Real river or lake, low visibility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End-to-end detection and alert working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Phase 3.1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Pollution / chemical water test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Turbid or chemically affected water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Sonar detection unaffected, no false alerts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E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2681"/>
            <a:ext cx="2788920" cy="420624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10607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463040"/>
            <a:ext cx="21671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setup 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214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2103120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 (surface plastic)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614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2743200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tagging of detections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0156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location of </a:t>
            </a:r>
            <a:r>
              <a:rPr lang="en-IN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4164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" y="40233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water surface testing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218688" y="749808"/>
            <a:ext cx="2788920" cy="420624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218688" y="749808"/>
            <a:ext cx="2788920" cy="594360"/>
          </a:xfrm>
          <a:prstGeom prst="rect">
            <a:avLst/>
          </a:prstGeom>
          <a:solidFill>
            <a:srgbClr val="1A7A6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3"/>
          <p:cNvSpPr/>
          <p:nvPr/>
        </p:nvSpPr>
        <p:spPr>
          <a:xfrm>
            <a:off x="3218688" y="7498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3328416" y="10607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48132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30168" y="1463040"/>
            <a:ext cx="21671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depth sensor 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12140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30168" y="2103120"/>
            <a:ext cx="20180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simulation and integration</a:t>
            </a:r>
            <a:endParaRPr lang="en-US" sz="10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76148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30168" y="2743200"/>
            <a:ext cx="21164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fusion logic development</a:t>
            </a:r>
            <a:endParaRPr lang="en-US" sz="10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3401568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630168" y="3383280"/>
            <a:ext cx="2116484" cy="351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DDE8"/>
                </a:solidFill>
              </a:rPr>
              <a:t>Decision engine: determines whether the object is plastic or not</a:t>
            </a: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4041648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630168" y="4023360"/>
            <a:ext cx="21164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Low-visibility pool testing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6158132" y="749808"/>
            <a:ext cx="2788920" cy="4206240"/>
          </a:xfrm>
          <a:prstGeom prst="rect">
            <a:avLst/>
          </a:prstGeom>
          <a:solidFill>
            <a:srgbClr val="0D2E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6163056" y="749808"/>
            <a:ext cx="2788920" cy="594360"/>
          </a:xfrm>
          <a:prstGeom prst="rect">
            <a:avLst/>
          </a:prstGeom>
          <a:solidFill>
            <a:srgbClr val="155A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Text 22"/>
          <p:cNvSpPr/>
          <p:nvPr/>
        </p:nvSpPr>
        <p:spPr>
          <a:xfrm>
            <a:off x="6163056" y="7498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2000" dirty="0"/>
          </a:p>
        </p:txBody>
      </p:sp>
      <p:sp>
        <p:nvSpPr>
          <p:cNvPr id="35" name="Text 23"/>
          <p:cNvSpPr/>
          <p:nvPr/>
        </p:nvSpPr>
        <p:spPr>
          <a:xfrm>
            <a:off x="6272784" y="10607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81328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74536" y="1463040"/>
            <a:ext cx="21579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sonar hardware deployment</a:t>
            </a:r>
            <a:endParaRPr lang="en-US" sz="105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121408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574536" y="2103120"/>
            <a:ext cx="22248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ROV integration and trials</a:t>
            </a:r>
            <a:endParaRPr lang="en-US" sz="105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761488"/>
            <a:ext cx="201168" cy="20116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574536" y="2743200"/>
            <a:ext cx="22248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(river / lake)</a:t>
            </a:r>
            <a:endParaRPr lang="en-US" sz="105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401568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574536" y="33832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+ optimisation</a:t>
            </a:r>
            <a:endParaRPr lang="en-US" sz="105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4041648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574536" y="4023360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system delivery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D2E4E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Detection Robot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3E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Locate · Alert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9BB8C8"/>
                </a:solidFill>
              </a:rPr>
              <a:t>An autonomous, AI-powered robot that detects plastic waste in all water conditions </a:t>
            </a:r>
            <a:br>
              <a:rPr lang="en-US" sz="1200" dirty="0">
                <a:solidFill>
                  <a:srgbClr val="9BB8C8"/>
                </a:solidFill>
              </a:rPr>
            </a:br>
            <a:r>
              <a:rPr lang="en-US" sz="12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sends the exact location to cleanup teams — ready for real-world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4663440"/>
            <a:ext cx="182880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Sirius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1551</Words>
  <Application>Microsoft Office PowerPoint</Application>
  <PresentationFormat>On-screen Show (16:9)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 Detection Robot</dc:title>
  <dc:subject>PptxGenJS Presentation</dc:subject>
  <dc:creator>PptxGenJS</dc:creator>
  <cp:lastModifiedBy>sandesh patil</cp:lastModifiedBy>
  <cp:revision>16</cp:revision>
  <dcterms:created xsi:type="dcterms:W3CDTF">2026-04-28T03:42:16Z</dcterms:created>
  <dcterms:modified xsi:type="dcterms:W3CDTF">2026-05-13T10:07:17Z</dcterms:modified>
</cp:coreProperties>
</file>